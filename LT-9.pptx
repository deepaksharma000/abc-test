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52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256032"/>
            <a:ext cx="2743200" cy="32918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2"/>
          <p:cNvSpPr/>
          <p:nvPr/>
        </p:nvSpPr>
        <p:spPr>
          <a:xfrm>
            <a:off x="411480" y="2560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D060"/>
                </a:solidFill>
              </a:rPr>
              <a:t>Financial Services  |  PGDM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91440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Study on Mutual Funds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11480" y="16459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0DEFF"/>
                </a:solidFill>
              </a:rPr>
              <a:t>5 Public Sector Banks  ·  5 Years  ·  Open &amp; Close Ended Schemes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2148840"/>
            <a:ext cx="5029200" cy="36576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22860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0DEFF"/>
                </a:solidFill>
              </a:rPr>
              <a:t>SBI MF   ·   Baroda BNP Paribas MF   ·   Union MF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D0DEFF"/>
                </a:solidFill>
              </a:rPr>
              <a:t>Canara Robeco MF   ·   Bank of India MF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91C36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4343400"/>
            <a:ext cx="83210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A000"/>
                </a:solidFill>
              </a:rPr>
              <a:t>Submitted by : Learning Team 9   |   Submitted to: Dr. A. K. Sinha   |   FIIB</a:t>
            </a:r>
            <a:endParaRPr lang="en-US" sz="1200" dirty="0"/>
          </a:p>
        </p:txBody>
      </p:sp>
      <p:pic>
        <p:nvPicPr>
          <p:cNvPr id="1026" name="Picture 2" descr="A place where partnerships flourish">
            <a:extLst>
              <a:ext uri="{FF2B5EF4-FFF2-40B4-BE49-F238E27FC236}">
                <a16:creationId xmlns:a16="http://schemas.microsoft.com/office/drawing/2014/main" id="{19457D68-F5DF-65F5-81E0-E2FA99637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417" y="112845"/>
            <a:ext cx="1237000" cy="47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3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This Project About?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B4A"/>
                </a:solidFill>
              </a:rPr>
              <a:t>We studied how 5 mutual fund companies (started by government banks) performed over the last 5 years.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2651760" cy="5486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6916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The 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304288"/>
            <a:ext cx="2450592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Performance analysis of 3 open-ended and 3 close-ended schemes from each of the 5 leading Mutual funds started by Public sector Banks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91640"/>
            <a:ext cx="2651760" cy="548640"/>
          </a:xfrm>
          <a:prstGeom prst="rect">
            <a:avLst/>
          </a:prstGeom>
          <a:solidFill>
            <a:srgbClr val="1B5E42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6916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🏦  Which Banks?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2304288"/>
            <a:ext cx="2450592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SBI, Bank of Baroda, Union Bank, Canara Bank, and Bank of India.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691640"/>
            <a:ext cx="2651760" cy="548640"/>
          </a:xfrm>
          <a:prstGeom prst="rect">
            <a:avLst/>
          </a:prstGeom>
          <a:solidFill>
            <a:srgbClr val="6B3A1E"/>
          </a:solidFill>
          <a:ln/>
        </p:spPr>
      </p:sp>
      <p:sp>
        <p:nvSpPr>
          <p:cNvPr id="16" name="Text 14"/>
          <p:cNvSpPr/>
          <p:nvPr/>
        </p:nvSpPr>
        <p:spPr>
          <a:xfrm>
            <a:off x="6144768" y="16916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📅  Time Period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44768" y="2304288"/>
            <a:ext cx="2450592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FY 2021 to FY 2025 — the last 5 financial years of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3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Did We Do This Study?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51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solidFill>
            <a:srgbClr val="0D234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A00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115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345"/>
                </a:solidFill>
              </a:rPr>
              <a:t>Read the main report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48132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5F70"/>
                </a:solidFill>
              </a:rPr>
              <a:t>We used the AMFI Annual Report 2025 as our main source. AMFI is the official body that tracks all mutual fund data in India.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251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063240"/>
            <a:ext cx="384048" cy="384048"/>
          </a:xfrm>
          <a:prstGeom prst="rect">
            <a:avLst/>
          </a:prstGeom>
          <a:solidFill>
            <a:srgbClr val="0D234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A000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3035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345"/>
                </a:solidFill>
              </a:rPr>
              <a:t>Collected scheme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340156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5F70"/>
                </a:solidFill>
              </a:rPr>
              <a:t>We looked up actual returns (CAGR) for each scheme using Value Research, INDmoney, Angel One and each fund's own website.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4251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143000"/>
            <a:ext cx="384048" cy="384048"/>
          </a:xfrm>
          <a:prstGeom prst="rect">
            <a:avLst/>
          </a:prstGeom>
          <a:solidFill>
            <a:srgbClr val="0D2345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A000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13248" y="1115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345"/>
                </a:solidFill>
              </a:rPr>
              <a:t>Looked at 6 key things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13248" y="148132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5F70"/>
                </a:solidFill>
              </a:rPr>
              <a:t>Number of investors (folios), SIP growth, equity fund performance, debt fund flows, individual investor data, and challenges.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4251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063240"/>
            <a:ext cx="384048" cy="384048"/>
          </a:xfrm>
          <a:prstGeom prst="rect">
            <a:avLst/>
          </a:prstGeom>
          <a:solidFill>
            <a:srgbClr val="0D2345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A000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3035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345"/>
                </a:solidFill>
              </a:rPr>
              <a:t>Compared all 5 fund houses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13248" y="340156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5F70"/>
                </a:solidFill>
              </a:rPr>
              <a:t>We put the data side by side to see which fund house grew the most, which gave the best returns, and what problems they face.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3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91C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Did We Find?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651760" cy="1417320"/>
          </a:xfrm>
          <a:prstGeom prst="rect">
            <a:avLst/>
          </a:prstGeom>
          <a:solidFill>
            <a:srgbClr val="1E4A8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607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D060"/>
                </a:solidFill>
              </a:rPr>
              <a:t>📈  Industry Doubled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2468880" cy="27432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361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EFF"/>
                </a:solidFill>
              </a:rPr>
              <a:t>Total money in MFs grew from ₹31L Cr to ₹65L Cr — that is 109% growth in just 5 years!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987552"/>
            <a:ext cx="2651760" cy="1417320"/>
          </a:xfrm>
          <a:prstGeom prst="rect">
            <a:avLst/>
          </a:prstGeom>
          <a:solidFill>
            <a:srgbClr val="1A5C4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607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D060"/>
                </a:solidFill>
              </a:rPr>
              <a:t>💸  SIP is Booming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468880" cy="27432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5361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EFF"/>
                </a:solidFill>
              </a:rPr>
              <a:t>People invested ₹2.89 lakh crore through SIPs in FY25. Monthly SIP flows crossed ₹25,000 Cr.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987552"/>
            <a:ext cx="2651760" cy="1417320"/>
          </a:xfrm>
          <a:prstGeom prst="rect">
            <a:avLst/>
          </a:prstGeom>
          <a:solidFill>
            <a:srgbClr val="7A3C00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0607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D060"/>
                </a:solidFill>
              </a:rPr>
              <a:t>🥇  Best Return: 30.59%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463040"/>
            <a:ext cx="2468880" cy="27432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5361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EFF"/>
                </a:solidFill>
              </a:rPr>
              <a:t>Union Small Cap Fund gave 30.59% return per year over 5 years. That is outstanding.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578608"/>
            <a:ext cx="2651760" cy="1417320"/>
          </a:xfrm>
          <a:prstGeom prst="rect">
            <a:avLst/>
          </a:prstGeom>
          <a:solidFill>
            <a:srgbClr val="5A208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D060"/>
                </a:solidFill>
              </a:rPr>
              <a:t>👥  Retail Investors Win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054096"/>
            <a:ext cx="2468880" cy="27432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12724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EFF"/>
                </a:solidFill>
              </a:rPr>
              <a:t>Over 63% of all MF money comes from regular people (not companies). 5.34 crore investors!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578608"/>
            <a:ext cx="2651760" cy="1417320"/>
          </a:xfrm>
          <a:prstGeom prst="rect">
            <a:avLst/>
          </a:prstGeom>
          <a:solidFill>
            <a:srgbClr val="1A5C70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D060"/>
                </a:solidFill>
              </a:rPr>
              <a:t>📊  Equity Rules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37560" y="3054096"/>
            <a:ext cx="2468880" cy="27432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12724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EFF"/>
                </a:solidFill>
              </a:rPr>
              <a:t>61% of all MF money is now in equity (stocks). People trust the stock market more than before.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2578608"/>
            <a:ext cx="2651760" cy="1417320"/>
          </a:xfrm>
          <a:prstGeom prst="rect">
            <a:avLst/>
          </a:prstGeom>
          <a:solidFill>
            <a:srgbClr val="6A3A10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D060"/>
                </a:solidFill>
              </a:rPr>
              <a:t>🏆  SBI is the Biggest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3054096"/>
            <a:ext cx="2468880" cy="27432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12724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EFF"/>
                </a:solidFill>
              </a:rPr>
              <a:t>SBI Mutual Fund manages ₹12.63 lakh crore — the biggest AMC in India by a large margin.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3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Did We Learn?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3035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303520" cy="411480"/>
          </a:xfrm>
          <a:prstGeom prst="rect">
            <a:avLst/>
          </a:prstGeom>
          <a:solidFill>
            <a:srgbClr val="0D234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000"/>
                </a:solidFill>
              </a:rPr>
              <a:t>5 Big Lessons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5074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💡  A small fund (like Union MF) can beat a big fund in returns — size does not always mean better performance.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" y="2011680"/>
            <a:ext cx="49377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121408"/>
            <a:ext cx="5074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💡  SIP investing every month is the easiest way for a normal person to build long-term wealth.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651760"/>
            <a:ext cx="49377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761488"/>
            <a:ext cx="5074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💡  Government tax rules directly affect where people invest — Budget 2024 hurt debt funds badly.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" y="3291840"/>
            <a:ext cx="49377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3401568"/>
            <a:ext cx="5074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💡  India's MF market is only 19.9% of GDP vs 100%+ in USA — there is still massive room to grow.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931920"/>
            <a:ext cx="49377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4041648"/>
            <a:ext cx="5074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💡  Apps like Groww and Zerodha have made investing as easy as buying something online.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97880" y="1005840"/>
            <a:ext cx="2926080" cy="3749040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0789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345"/>
                </a:solidFill>
              </a:rPr>
              <a:t>In Simple Words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1481328"/>
            <a:ext cx="2651760" cy="27432"/>
          </a:xfrm>
          <a:prstGeom prst="rect">
            <a:avLst/>
          </a:prstGeom>
          <a:solidFill>
            <a:srgbClr val="0D2345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572768"/>
            <a:ext cx="274320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2345"/>
                </a:solidFill>
              </a:rPr>
              <a:t>India's mutual fund industry is growing very fast.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345"/>
                </a:solidFill>
              </a:rPr>
              <a:t>Government bank AMCs play a big role — from SBI which manages ₹12 lakh crore, to smaller ones like Bank of India MF.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345"/>
                </a:solidFill>
              </a:rPr>
              <a:t>SIPs are turning ordinary Indians into investors — ₹500 a month can build real wealth over time.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345"/>
                </a:solidFill>
              </a:rPr>
              <a:t>This is just the beginning.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345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D060"/>
                </a:solidFill>
              </a:rPr>
              <a:t>Learning Team 9   |   Financial Services   |   PGDM   |   FIIB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615</Words>
  <Application>Microsoft Office PowerPoint</Application>
  <PresentationFormat>On-screen Show (16:9)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Deepak Sharma</cp:lastModifiedBy>
  <cp:revision>5</cp:revision>
  <dcterms:created xsi:type="dcterms:W3CDTF">2026-03-31T08:38:50Z</dcterms:created>
  <dcterms:modified xsi:type="dcterms:W3CDTF">2026-04-03T07:01:26Z</dcterms:modified>
</cp:coreProperties>
</file>